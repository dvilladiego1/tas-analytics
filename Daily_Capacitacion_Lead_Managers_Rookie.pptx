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Daily de Capacitación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BFF"/>
                </a:solidFill>
                <a:latin typeface="Calibri"/>
              </a:defRPr>
            </a:pPr>
            <a:r>
              <a:t>Lead Managers Rookie — Programa de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657600"/>
            <a:ext cx="2103120" cy="36576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8D"/>
                </a:solidFill>
                <a:latin typeface="Calibri"/>
              </a:defRPr>
            </a:pPr>
            <a:r>
              <a:t>Equipo Central · Silvia + Soporte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  <a:latin typeface="Calibri"/>
              </a:defRPr>
            </a:pPr>
            <a:r>
              <a:t>Marzo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675120"/>
            <a:ext cx="12191695" cy="73152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BB"/>
                </a:solidFill>
                <a:latin typeface="Calibri"/>
              </a:defRPr>
            </a:pPr>
            <a:r>
              <a:t>Objetivo: Que cada Lead Manager gestione compras correctamente desde el primer intento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Contexto y Objetivo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D72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6 Lead Managers nivel Rookie en 7 células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Todos en etapa temprana de operación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Equipo central (Silvia) brindará soporte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Células distribuidas: Soni Pachuca, Dalton,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ISMO, Plasencia, Potosina, We Cars, MISOL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Necesidad crítica: estandarizar el proceso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de compra desde el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00"/>
                </a:solidFill>
                <a:latin typeface="Calibri"/>
              </a:defRPr>
            </a:pPr>
            <a:r>
              <a:t>Objetivo del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Gestión de compras correcta al 1er intento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Los 3 pilares de aprendizaje: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1. Cotejar documentos recibidos de la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agencia (factura, TC, INE, tenencias)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2. Crear ticket de aprobación de compra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siguiendo procesos establecidos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3. Solicitar autorización de autofactura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al SAT correctamente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Mapa de Lead Managers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  <a:gridCol w="6400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Grupo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 Manager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Nivel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Necesidad Principal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Soni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Jorge Eduardo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Rookie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fin de turno + 1er ticket de compra + Cotejo docs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Dalton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Rookie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TID desde central + Gestión leads Plasencia + Inspector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(Por asignar)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Rookie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Aliados inicia 10 marzo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Plasencia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Cristian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Rookie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semana en piso — arranca desde cero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Potosina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Eduardo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Rookie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Aliados inicia 10 marzo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 Cars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Rookie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 definir en primer daily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MISOL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Eduardo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Rookie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 definir en primer 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Estructura del Daily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Horario: 9:00 AM  ·  Formato: Videollamada con cámara  ·  Facilitador: Silvia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97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697480" cy="82296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Check-in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DEEFF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Cada LM reporta:</a:t>
            </a:r>
            <a:br/>
            <a:r>
              <a:t>• Tickets creados ayer</a:t>
            </a:r>
            <a:br/>
            <a:r>
              <a:t>• Dudas bloqueantes</a:t>
            </a:r>
            <a:br/>
            <a:r>
              <a:t>• Estatus general</a:t>
            </a:r>
          </a:p>
        </p:txBody>
      </p:sp>
      <p:sp>
        <p:nvSpPr>
          <p:cNvPr id="10" name="Oval 9"/>
          <p:cNvSpPr/>
          <p:nvPr/>
        </p:nvSpPr>
        <p:spPr>
          <a:xfrm>
            <a:off x="1463040" y="1234440"/>
            <a:ext cx="457200" cy="457200"/>
          </a:xfrm>
          <a:prstGeom prst="ellipse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63040"/>
            <a:ext cx="2697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2697480" cy="822960"/>
          </a:xfrm>
          <a:prstGeom prst="roundRect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Micro-cápsula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DEEFF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Tema del día (rotativo):</a:t>
            </a:r>
            <a:br/>
            <a:r>
              <a:t>• Cotejo de documentos</a:t>
            </a:r>
            <a:br/>
            <a:r>
              <a:t>• Tickets de compra</a:t>
            </a:r>
            <a:br/>
            <a:r>
              <a:t>• Autofactura SAT</a:t>
            </a:r>
          </a:p>
        </p:txBody>
      </p:sp>
      <p:sp>
        <p:nvSpPr>
          <p:cNvPr id="17" name="Oval 16"/>
          <p:cNvSpPr/>
          <p:nvPr/>
        </p:nvSpPr>
        <p:spPr>
          <a:xfrm>
            <a:off x="4343400" y="1234440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697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463040"/>
            <a:ext cx="2697480" cy="822960"/>
          </a:xfrm>
          <a:prstGeom prst="roundRect">
            <a:avLst/>
          </a:prstGeom>
          <a:solidFill>
            <a:srgbClr val="00B34D"/>
          </a:solidFill>
          <a:ln w="127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Caso práctico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DEEFF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Revisión en vivo de:</a:t>
            </a:r>
            <a:br/>
            <a:r>
              <a:t>• 1 ticket real (bueno o</a:t>
            </a:r>
            <a:br/>
            <a:r>
              <a:t>  con errores)</a:t>
            </a:r>
            <a:br/>
            <a:r>
              <a:t>• Feedback grupal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0" y="1234440"/>
            <a:ext cx="457200" cy="457200"/>
          </a:xfrm>
          <a:prstGeom prst="ellipse">
            <a:avLst/>
          </a:prstGeom>
          <a:solidFill>
            <a:srgbClr val="00B34D"/>
          </a:solidFill>
          <a:ln w="127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463040"/>
            <a:ext cx="2697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98280" y="1463040"/>
            <a:ext cx="2697480" cy="822960"/>
          </a:xfrm>
          <a:prstGeom prst="roundRect">
            <a:avLst/>
          </a:prstGeom>
          <a:solidFill>
            <a:srgbClr val="007BFF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Cierre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DEEFF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Compromiso del día</a:t>
            </a:r>
            <a:br/>
            <a:r>
              <a:t>• Tarea práctica asignada</a:t>
            </a:r>
            <a:br/>
            <a:r>
              <a:t>• Dudas finales</a:t>
            </a:r>
          </a:p>
        </p:txBody>
      </p:sp>
      <p:sp>
        <p:nvSpPr>
          <p:cNvPr id="31" name="Oval 30"/>
          <p:cNvSpPr/>
          <p:nvPr/>
        </p:nvSpPr>
        <p:spPr>
          <a:xfrm>
            <a:off x="10104120" y="1234440"/>
            <a:ext cx="457200" cy="45720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Plan de Micro-cápsulas (Ciclo Semanal)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4389120"/>
                <a:gridCol w="246888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Día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Tema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Objetivo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Lunes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Cotejo de documentos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Checklist completo: factura, TC, INE,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tenencias, verificaciones, red 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Checklist firmado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Martes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Creación de ticket de compra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Paso a paso: campos obligatorios,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evidencia, pricing, aprobaciones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Ticket de práctica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Miércoles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Autofactura SAT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Proceso: cuándo aplica, cómo solicitar,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tiempos, qué hacer si se rechaza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simulada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Jueves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Gestión de pagos y aging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Primer/segundo pago, autos estancados,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escalamiento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Reporte de aging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Viernes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Tableros + Cierre semanal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Lectura de dashboards, KPIs de la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semana, reconocimiento mejor caso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Scorecard semanal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Relación con Equipo de Seminuevos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Espacio dentro del daily para que cada LM comparta contexto de su interacción con el equipo de seminuevos de cada célula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669280" cy="493776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72"/>
                </a:solidFill>
                <a:latin typeface="Calibri"/>
              </a:defRPr>
            </a:pPr>
            <a:r>
              <a:t>Qué reporta cada LM (2 min por persona)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1. Nivel de colaboración con Gte. de Seminuevos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¿Hay fluidez en la entrega de cotizaciones?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¿Entregan documentación completa o incompleta?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2. Volumen y calidad de leads recibidos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Cotizaciones con docs completos vs. incompletos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CFDI pendientes: cuántos y desde cuándo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3. Puntos de fricción o bloqueos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Tiempos de respuesta del equipo de seminuevos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Documentos recurrentemente faltantes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Escalamientos necesarios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4. Alianzas y avances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Acuerdos de trabajo establecidos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→ Mejoras observadas semana a semana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493776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00"/>
                </a:solidFill>
                <a:latin typeface="Calibri"/>
              </a:defRPr>
            </a:pPr>
            <a:r>
              <a:t>Template de Reporte Semanal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📋 Formato que llena cada LM el viernes: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Célula: ________________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Gte. Seminuevos: ________________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Cotizaciones recibidas esta semana: 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- Con docs completos: 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- Con CFDI pendiente: 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- Sin documentación: 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Inspecciones realizadas: 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- Docs completos: 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- CFDI pendiente únicamente: 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Nivel de relación (1-5): 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Principal fricción: ________________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Acción acordada: ________________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D72"/>
                </a:solidFill>
                <a:latin typeface="Calibri"/>
              </a:defRPr>
            </a:pPr>
            <a:r>
              <a:t>Diagnóstico Inicial: Relación con Seminuevos por Célula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828800"/>
                <a:gridCol w="2011680"/>
                <a:gridCol w="40233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Célula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 Manager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Gte. Seminuevos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Estatus Relación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Acción Prioritaria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Soni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Jorge Eduardo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Lluvia &amp; 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En construcción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Establecer reporte diario de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cotizaciones e inspecciones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Dalton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(Por confirmar)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En construcción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flujo de entrega de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documentos con equipo local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ISMO Ags.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(Por asignar)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(Pre-arranque)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⚪ No iniciada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Mapear equipo de seminuevos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antes del 10 de marzo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Plasencia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Cristian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(Por confirmar)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🔴 Desde cero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semana: presentación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formal + acuerdos de trabajo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Potosina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Eduardo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(Pre-arranque)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⚪ No iniciada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Mapear equipo de seminuevos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antes del 10 de marzo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 Cars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(Por confirmar)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Por evaluar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Diagnóstico en primer daily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MISOL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Eduardo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(Por confirmar)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🟡 Por evaluar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Diagnóstico en primer 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Nota: El diagnóstico se actualiza semanalmente con el input del daily. Semáforo: 🔴 Crítico  🟡 En desarrollo  🟢 Estable  ⚪ No iniciada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Plan Específico por LM — Semanas 1-2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240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240280" cy="91440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Jorge Eduardo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FF"/>
                </a:solidFill>
                <a:latin typeface="Calibri"/>
              </a:defRPr>
            </a:pPr>
            <a:r>
              <a:t>Soni Pachuca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Data fin de turno: template de reporte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Volumen cotizaciones (Lluvia &amp; Ana)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Inspecciones con docs completos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Primer ticket supervisado por Silvia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54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Foco: experto en cotejo de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097280"/>
            <a:ext cx="2240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1097280"/>
            <a:ext cx="2240280" cy="914400"/>
          </a:xfrm>
          <a:prstGeom prst="roundRect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143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FF"/>
                </a:solidFill>
                <a:latin typeface="Calibri"/>
              </a:defRPr>
            </a:pPr>
            <a:r>
              <a:t>Dalton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1945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TID desde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Gestión leads Plasencia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4747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Priorizar asignación inspector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114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Meta bono: $3,500 con 2do pago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754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Calmar ansiedad de esquema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097280"/>
            <a:ext cx="2240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0" y="1097280"/>
            <a:ext cx="2240280" cy="914400"/>
          </a:xfrm>
          <a:prstGeom prst="roundRect">
            <a:avLst/>
          </a:prstGeom>
          <a:solidFill>
            <a:srgbClr val="E83E3E"/>
          </a:solidFill>
          <a:ln w="1270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143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Cristian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FF"/>
                </a:solidFill>
                <a:latin typeface="Calibri"/>
              </a:defRPr>
            </a:pPr>
            <a:r>
              <a:t>Plasencia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1945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Arranca desde cero en piso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Días 1-3: observación + cotejo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4747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Días 4-5: primer ticket supervisado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114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Presentación con equipo seminuevos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754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Acompañamiento intensivo Silvia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1097280"/>
            <a:ext cx="2240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06640" y="1097280"/>
            <a:ext cx="2240280" cy="914400"/>
          </a:xfrm>
          <a:prstGeom prst="roundRect">
            <a:avLst/>
          </a:prstGeom>
          <a:solidFill>
            <a:srgbClr val="00B34D"/>
          </a:solidFill>
          <a:ln w="127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1143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ISMO / Potosina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FF"/>
                </a:solidFill>
                <a:latin typeface="Calibri"/>
              </a:defRPr>
            </a:pPr>
            <a:r>
              <a:t>Ags. + Potosina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21945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Pre-arranque: cápsulas grabadas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Aliados inicia 10 de marzo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34747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Semana previa: cotejo + tickets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4114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Acompañamiento intensivo S1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4754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Mapear equipo seminuevos local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1097280"/>
            <a:ext cx="22402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84080" y="1097280"/>
            <a:ext cx="2240280" cy="914400"/>
          </a:xfrm>
          <a:prstGeom prst="roundRect">
            <a:avLst/>
          </a:prstGeom>
          <a:solidFill>
            <a:srgbClr val="007BFF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1143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 / Eduardo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FF"/>
                </a:solidFill>
                <a:latin typeface="Calibri"/>
              </a:defRPr>
            </a:pPr>
            <a:r>
              <a:t>We Cars + MISOL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21945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Diagnosticar en primer daily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Integrar al ciclo estándar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4747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Evaluar relación con seminuevos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41148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Definir plan personalizado S2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7548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• Asignar buddy del equipo central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Materiales de Apoyo a Crear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7432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1371600"/>
            <a:ext cx="640080" cy="640080"/>
          </a:xfrm>
          <a:prstGeom prst="ellipse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D72"/>
                </a:solidFill>
                <a:latin typeface="Calibri"/>
              </a:defRPr>
            </a:pPr>
            <a:r>
              <a:t>Checklist de Cotejo</a:t>
            </a:r>
            <a:br/>
            <a:r>
              <a:t>de Documentos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1 pager imprimible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Lista de docs por tipo de operación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Red flags visuales por documento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Flujo: doc completo vs incompleto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Campos obligatorios a validar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097280"/>
            <a:ext cx="27432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43400" y="1371600"/>
            <a:ext cx="640080" cy="6400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D72"/>
                </a:solidFill>
                <a:latin typeface="Calibri"/>
              </a:defRPr>
            </a:pPr>
            <a:r>
              <a:t>Guía Paso a Paso:</a:t>
            </a:r>
            <a:br/>
            <a:r>
              <a:t>Ticket de Compra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Con capturas de pantalla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Cada campo explicado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Errores más comunes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Evidencia a adjuntar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Checklist pre-envío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097280"/>
            <a:ext cx="27432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69480" y="1371600"/>
            <a:ext cx="640080" cy="640080"/>
          </a:xfrm>
          <a:prstGeom prst="ellipse">
            <a:avLst/>
          </a:prstGeom>
          <a:solidFill>
            <a:srgbClr val="00B34D"/>
          </a:solidFill>
          <a:ln w="127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D72"/>
                </a:solidFill>
                <a:latin typeface="Calibri"/>
              </a:defRPr>
            </a:pPr>
            <a:r>
              <a:t>Proceso de</a:t>
            </a:r>
            <a:br/>
            <a:r>
              <a:t>Autofactura 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Diagrama de flujo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Cuándo aplica autofactura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Portal/herramienta a usar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Tiempos de respuesta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Escalamiento si se rechaza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097280"/>
            <a:ext cx="27432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95560" y="1371600"/>
            <a:ext cx="640080" cy="640080"/>
          </a:xfrm>
          <a:prstGeom prst="ellipse">
            <a:avLst/>
          </a:prstGeom>
          <a:solidFill>
            <a:srgbClr val="E83E3E"/>
          </a:solidFill>
          <a:ln w="1270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D72"/>
                </a:solidFill>
                <a:latin typeface="Calibri"/>
              </a:defRPr>
            </a:pPr>
            <a:r>
              <a:t>Template Reporte</a:t>
            </a:r>
            <a:br/>
            <a:r>
              <a:t>Seminuevos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Calibri"/>
              </a:defRPr>
            </a:pPr>
            <a:r>
              <a:t>Google Sheet compartido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Cotizaciones recibidas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Docs completos vs pendientes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Nivel de relación (semáforo)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Fricciones y acuerdos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Métricas de Éxito del Programa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011680"/>
                <a:gridCol w="36576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 Semana 2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 Semana 4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Cómo se mide</a:t>
                      </a:r>
                    </a:p>
                  </a:txBody>
                  <a:tcPr anchor="ctr">
                    <a:solidFill>
                      <a:srgbClr val="002D7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% Tickets correctos al 1er intento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por Silvia en 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Tiempo promedio cotejo de docs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20 min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10 min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Autoreporte + observación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Autofacturas solicitadas correctamente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Tracking en sistema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Asistencia al daily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de asistencia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Nivel relación seminuevos (1-5)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Template semanal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Docs entregados completos por seminuevos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Reporte LM en daily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E8EEF7"/>
          </a:solidFill>
          <a:ln w="254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D72"/>
                </a:solidFill>
                <a:latin typeface="Calibri"/>
              </a:defRPr>
            </a:pPr>
            <a:r>
              <a:t>🎯 Meta de graduación Rookie → Operativo:  5 tickets consecutivos correctos al primer intento  +  Relación estable con equipo seminuevos (nivel ≥ 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2"/>
                </a:solidFill>
                <a:latin typeface="Calibri"/>
              </a:defRPr>
            </a:pPr>
            <a:r>
              <a:t>Canales de Comunicación y Soporte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7432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731520"/>
          </a:xfrm>
          <a:prstGeom prst="roundRect">
            <a:avLst/>
          </a:prstGeom>
          <a:solidFill>
            <a:srgbClr val="002D72"/>
          </a:solidFill>
          <a:ln w="12700">
            <a:solidFill>
              <a:srgbClr val="002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Daily 9:00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D72"/>
                </a:solidFill>
                <a:latin typeface="Calibri"/>
              </a:defRPr>
            </a:pPr>
            <a:r>
              <a:t>Espacio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Videollamada diaria</a:t>
            </a:r>
            <a:br/>
            <a:r>
              <a:t>30 min máximo</a:t>
            </a:r>
            <a:br/>
            <a:r>
              <a:t>Todos los LMs + Silvia</a:t>
            </a:r>
            <a:br/>
            <a:r>
              <a:t>Cámara encendida obligatoria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97280"/>
            <a:ext cx="27432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097280"/>
            <a:ext cx="2743200" cy="731520"/>
          </a:xfrm>
          <a:prstGeom prst="roundRect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Canal WhatsApp/Slack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  <a:latin typeface="Calibri"/>
              </a:defRPr>
            </a:pPr>
            <a:r>
              <a:t>Soporte en tiempo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603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Exclusivo para LMs Rookie</a:t>
            </a:r>
            <a:br/>
            <a:r>
              <a:t>Dudas de cotejo con fotos</a:t>
            </a:r>
            <a:br/>
            <a:r>
              <a:t>Validación pre-envío de tickets</a:t>
            </a:r>
            <a:br/>
            <a:r>
              <a:t>Respuesta &lt; 30 min por Silvia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97280"/>
            <a:ext cx="27432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743200" cy="731520"/>
          </a:xfrm>
          <a:prstGeom prst="roundRect">
            <a:avLst/>
          </a:prstGeom>
          <a:solidFill>
            <a:srgbClr val="00B34D"/>
          </a:solidFill>
          <a:ln w="12700">
            <a:solidFill>
              <a:srgbClr val="00B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Reporte Semanal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34D"/>
                </a:solidFill>
                <a:latin typeface="Calibri"/>
              </a:defRPr>
            </a:pPr>
            <a:r>
              <a:t>Seguimiento formal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Template Google Sheets</a:t>
            </a:r>
            <a:br/>
            <a:r>
              <a:t>Cada viernes antes del daily</a:t>
            </a:r>
            <a:br/>
            <a:r>
              <a:t>Métricas + relación seminuevos</a:t>
            </a:r>
            <a:br/>
            <a:r>
              <a:t>Base para coaching 1:1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097280"/>
            <a:ext cx="27432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097280"/>
            <a:ext cx="2743200" cy="731520"/>
          </a:xfrm>
          <a:prstGeom prst="roundRect">
            <a:avLst/>
          </a:prstGeom>
          <a:solidFill>
            <a:srgbClr val="007BFF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Sesión 1:1 Quincenal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BFF"/>
                </a:solidFill>
                <a:latin typeface="Calibri"/>
              </a:defRPr>
            </a:pPr>
            <a:r>
              <a:t>Desarrollo individual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56032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Silvia + cada LM individual</a:t>
            </a:r>
            <a:br/>
            <a:r>
              <a:t>30 min cada quincena</a:t>
            </a:r>
            <a:br/>
            <a:r>
              <a:t>Revisión de avance personal</a:t>
            </a:r>
            <a:br/>
            <a:r>
              <a:t>Plan de acción personalizado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4" name="Oval 3"/>
          <p:cNvSpPr/>
          <p:nvPr/>
        </p:nvSpPr>
        <p:spPr>
          <a:xfrm>
            <a:off x="1645920" y="1325880"/>
            <a:ext cx="274320" cy="2743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7360" y="1600200"/>
            <a:ext cx="54864" cy="91440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Semana 1 (3-7 Mar)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Arranque del daily · Jorge Eduardo y Ana primer ticket · Cristian observación + cotejo · Diagnóstico relación seminuevos en cada célula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2651760"/>
            <a:ext cx="274320" cy="2743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2926080"/>
            <a:ext cx="54864" cy="91440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Semana 2 (10-14 Mar)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926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ISMO y Potosina arrancan con Aliados · Cristian primer ticket supervisado · Todos: ciclo completo de micro-cápsulas · Primer reporte semanal de seminuevos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3977640"/>
            <a:ext cx="274320" cy="2743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37360" y="4251960"/>
            <a:ext cx="54864" cy="91440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Semana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519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Medición de métricas S2 · Ajuste de plan por LM · Primera sesión 1:1 quincenal · Revisión de relación seminuevos (meta: nivel 3+)</a:t>
            </a:r>
          </a:p>
        </p:txBody>
      </p:sp>
      <p:sp>
        <p:nvSpPr>
          <p:cNvPr id="16" name="Oval 15"/>
          <p:cNvSpPr/>
          <p:nvPr/>
        </p:nvSpPr>
        <p:spPr>
          <a:xfrm>
            <a:off x="1645920" y="5303519"/>
            <a:ext cx="274320" cy="2743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51663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00"/>
                </a:solidFill>
                <a:latin typeface="Calibri"/>
              </a:defRPr>
            </a:pPr>
            <a:r>
              <a:t>Mes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577839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Graduación de primeros LMs · Transición a daily bisemanal para graduados · Foco en LMs rezagados · Meta: 90% tickets correctos al 1er intento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00"/>
                </a:solidFill>
                <a:latin typeface="Calibri"/>
              </a:defRPr>
            </a:pPr>
            <a:r>
              <a:t>El éxito de este programa se mide en la autonomía de cada Lead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675120"/>
            <a:ext cx="12191695" cy="73152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